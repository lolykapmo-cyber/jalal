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a798838-fcb1-1d55-98b3-a6a6bdbb5114}">
          <p14:sldIdLst>
            <p14:sldId id="256"/>
            <p14:sldId id="257"/>
          </p14:sldIdLst>
        </p14:section>
        <p14:section name="Introduction" id="{609d39da-7023-2439-3c36-3fab0761d374}">
          <p14:sldIdLst>
            <p14:sldId id="258"/>
            <p14:sldId id="259"/>
          </p14:sldIdLst>
        </p14:section>
        <p14:section name="Gastrointestinal pH" id="{fda4fdb0-a1fd-7902-afd9-44e71641a02f}">
          <p14:sldIdLst>
            <p14:sldId id="260"/>
            <p14:sldId id="261"/>
            <p14:sldId id="262"/>
          </p14:sldIdLst>
        </p14:section>
        <p14:section name="Ionization" id="{e0d21f94-d059-15d5-9965-718d61f36191}">
          <p14:sldIdLst>
            <p14:sldId id="263"/>
            <p14:sldId id="264"/>
            <p14:sldId id="265"/>
          </p14:sldIdLst>
        </p14:section>
        <p14:section name="Secretions" id="{2dcb5ad8-033b-cbdc-b1fd-aee7472db77d}">
          <p14:sldIdLst>
            <p14:sldId id="266"/>
            <p14:sldId id="267"/>
            <p14:sldId id="268"/>
          </p14:sldIdLst>
        </p14:section>
        <p14:section name="Clinical examples" id="{ffbd81de-5071-b931-3f87-ea6e5098f034}">
          <p14:sldIdLst>
            <p14:sldId id="269"/>
            <p14:sldId id="270"/>
            <p14:sldId id="271"/>
          </p14:sldIdLst>
        </p14:section>
        <p14:section name="Applications" id="{64b5317a-d4d2-e727-186d-fc606ae17613}">
          <p14:sldIdLst>
            <p14:sldId id="272"/>
            <p14:sldId id="273"/>
          </p14:sldIdLst>
        </p14:section>
        <p14:section name="Closing" id="{a1ad341b-7826-9628-3b55-eb2092b702a5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in the presenter name and the university before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of the talk: physiology first, then the mechanism, then the clinical consequences.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Absorption = movement from the GI tract into the systemic circulation. The small intestine dominates because of its very large surface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properties are the link between gut physiology and plasma concentration.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Approximate values; they vary with fasting or fed state, age and disease.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 against the exam-style oversimplification that pH alone predicts absorption.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Lipid membranes favour the neutral species; charge keeps a molecule in the aqueous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Aspirin is the classic weak acid; most antihistamines and opioids are weak bases.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pH = pKa the drug is 50% ionized. One pH unit away from the pKa shifts the ratio tenfold.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acid–bicarbonate pair sets the pH gradient that the rest of the lecture depends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Bile salts matter most for lipophilic, poorly soluble (BCS class II) drugs.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Omeprazole is protected from acid; ketoconazole needs acid. Opposite formulation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Counsel patients: separate tetracyclines from dairy products, antacids and iron tablets.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Separating doses in time is the usual practical answer to an antacid interaction.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formulation and counselling levers that follow from the physiology.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mechanism, not the drug list: pH and secretions act through four properties.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2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1298448"/>
            <a:ext cx="74980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500" b="1" spc="300" kern="0" dirty="0">
                <a:solidFill>
                  <a:schemeClr val="accent2"/>
                </a:solidFill>
              </a:rPr>
              <a:t> 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1755648"/>
            <a:ext cx="708660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6000"/>
              </a:lnSpc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106000"/>
              </a:lnSpc>
              <a:buNone/>
            </a:pPr>
            <a:r>
              <a:rPr lang="en-US" sz="3800" b="1" dirty="0">
                <a:solidFill>
                  <a:schemeClr val="bg1"/>
                </a:solidFill>
              </a:rPr>
              <a:t> 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443984"/>
            <a:ext cx="65836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E4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4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 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788920"/>
            <a:ext cx="7406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bg1"/>
                </a:solidFill>
              </a:rPr>
              <a:t> 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526280"/>
            <a:ext cx="6766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 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20624"/>
            <a:ext cx="1088136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1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 </a:t>
            </a:r>
            <a:endParaRPr lang="en-US" sz="3100" dirty="0"/>
          </a:p>
        </p:txBody>
      </p:sp>
      <p:sp>
        <p:nvSpPr>
          <p:cNvPr id="3" name="Text 0"/>
          <p:cNvSpPr txBox="1"/>
          <p:nvPr/>
        </p:nvSpPr>
        <p:spPr>
          <a:xfrm>
            <a:off x="658368" y="63825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Role of Gastrointestinal pH and Secretions in Drug Absorption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INT">
    <p:bg>
      <p:bgPr>
        <a:solidFill>
          <a:srgbClr val="EF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20624"/>
            <a:ext cx="1088136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1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 </a:t>
            </a:r>
            <a:endParaRPr lang="en-US" sz="3100" dirty="0"/>
          </a:p>
        </p:txBody>
      </p:sp>
      <p:sp>
        <p:nvSpPr>
          <p:cNvPr id="3" name="Text 0"/>
          <p:cNvSpPr txBox="1"/>
          <p:nvPr/>
        </p:nvSpPr>
        <p:spPr>
          <a:xfrm>
            <a:off x="658368" y="63825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Role of Gastrointestinal pH and Secretions in Drug Absorption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B2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658368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 </a:t>
            </a: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gif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gif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gif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gif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3d" descr="/tmp/claude-0/-home-user-jalal/a59d9d9c-9b04-56e9-8ceb-a62df6a7b41b/scratchpad/deck/img/hero_capsul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572768"/>
            <a:ext cx="3977640" cy="33467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658368" y="129844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2"/>
                </a:solidFill>
              </a:rPr>
              <a:t>BIOPHARMACEUTICS  ·  DRUG ABSORPTION</a:t>
            </a:r>
            <a:endParaRPr lang="en-US" sz="15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58368" y="1755648"/>
            <a:ext cx="7086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800" b="1" dirty="0">
                <a:solidFill>
                  <a:schemeClr val="bg1"/>
                </a:solidFill>
              </a:rPr>
              <a:t>Role of Gastrointestinal pH and Secretions in Drug Absorption</a:t>
            </a:r>
            <a:endParaRPr lang="en-US" sz="38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658368" y="4443984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Presented by: 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Department of Pharmacy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University: 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______________________</a:t>
            </a:r>
            <a:endParaRPr lang="en-US" sz="160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23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900"/>
                                  <p:tgtEl>
                                    <p:spTgt spid="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" dur="900" fill="hold"/>
                                  <p:tgtEl>
                                    <p:spTgt spid="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w*0.6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900" fill="hold"/>
                                  <p:tgtEl>
                                    <p:spTgt spid="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h*0.6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0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4" dur="7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20624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What this presentation covers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58368" y="1481328"/>
            <a:ext cx="5285232" cy="1389888"/>
          </a:xfrm>
          <a:prstGeom prst="roundRect">
            <a:avLst>
              <a:gd name="adj" fmla="val 855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" y="189280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/tmp/claude-0/-home-user-jalal/a59d9d9c-9b04-56e9-8ceb-a62df6a7b41b/scratchpad/deck/img/ic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657" y="2023201"/>
            <a:ext cx="306141" cy="30614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9264" y="15910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6"/>
                </a:solidFill>
              </a:rPr>
              <a:t>01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1700784" y="1810512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Drug absorption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700784" y="219456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Definition and where it happens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54496" y="1481328"/>
            <a:ext cx="5285232" cy="1389888"/>
          </a:xfrm>
          <a:prstGeom prst="roundRect">
            <a:avLst>
              <a:gd name="adj" fmla="val 8553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6565392" y="189280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/tmp/claude-0/-home-user-jalal/a59d9d9c-9b04-56e9-8ceb-a62df6a7b41b/scratchpad/deck/img/ic_drop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785" y="2023201"/>
            <a:ext cx="306141" cy="30614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65392" y="15910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6"/>
                </a:solidFill>
              </a:rPr>
              <a:t>02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296912" y="1810512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Gastrointestinal pH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296912" y="219456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pH of the stomach, duodenum and intestine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58368" y="3081528"/>
            <a:ext cx="5285232" cy="1389888"/>
          </a:xfrm>
          <a:prstGeom prst="roundRect">
            <a:avLst>
              <a:gd name="adj" fmla="val 8553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969264" y="349300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/tmp/claude-0/-home-user-jalal/a59d9d9c-9b04-56e9-8ceb-a62df6a7b41b/scratchpad/deck/img/ic_char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657" y="3623401"/>
            <a:ext cx="306141" cy="30614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69264" y="31912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6"/>
                </a:solidFill>
              </a:rPr>
              <a:t>03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1700784" y="3410712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Ionization and permeability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1700784" y="379476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Unionized vs. ionized drug, Henderson–Hasselbalch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254496" y="3081528"/>
            <a:ext cx="5285232" cy="1389888"/>
          </a:xfrm>
          <a:prstGeom prst="roundRect">
            <a:avLst>
              <a:gd name="adj" fmla="val 8553"/>
            </a:avLst>
          </a:prstGeom>
          <a:solidFill>
            <a:schemeClr val="bg2"/>
          </a:solidFill>
          <a:ln/>
        </p:spPr>
      </p:sp>
      <p:sp>
        <p:nvSpPr>
          <p:cNvPr id="22" name="Shape 17"/>
          <p:cNvSpPr/>
          <p:nvPr/>
        </p:nvSpPr>
        <p:spPr>
          <a:xfrm>
            <a:off x="6565392" y="349300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3" descr="/tmp/claude-0/-home-user-jalal/a59d9d9c-9b04-56e9-8ceb-a62df6a7b41b/scratchpad/deck/img/ic_beak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785" y="3623401"/>
            <a:ext cx="306141" cy="30614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565392" y="31912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6"/>
                </a:solidFill>
              </a:rPr>
              <a:t>04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7296912" y="3410712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Gastrointestinal secretions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7296912" y="379476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HCl, bicarbonate, bile salts, intestinal fluid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58368" y="4681728"/>
            <a:ext cx="5285232" cy="1389888"/>
          </a:xfrm>
          <a:prstGeom prst="roundRect">
            <a:avLst>
              <a:gd name="adj" fmla="val 8553"/>
            </a:avLst>
          </a:prstGeom>
          <a:solidFill>
            <a:schemeClr val="bg2"/>
          </a:solidFill>
          <a:ln/>
        </p:spPr>
      </p:sp>
      <p:sp>
        <p:nvSpPr>
          <p:cNvPr id="28" name="Shape 22"/>
          <p:cNvSpPr/>
          <p:nvPr/>
        </p:nvSpPr>
        <p:spPr>
          <a:xfrm>
            <a:off x="969264" y="509320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Image 4" descr="/tmp/claude-0/-home-user-jalal/a59d9d9c-9b04-56e9-8ceb-a62df6a7b41b/scratchpad/deck/img/ic_capsu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657" y="5223601"/>
            <a:ext cx="306141" cy="30614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69264" y="47914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6"/>
                </a:solidFill>
              </a:rPr>
              <a:t>05</a:t>
            </a:r>
            <a:endParaRPr lang="en-US" sz="1150" dirty="0"/>
          </a:p>
        </p:txBody>
      </p:sp>
      <p:sp>
        <p:nvSpPr>
          <p:cNvPr id="31" name="Text 24"/>
          <p:cNvSpPr txBox="1"/>
          <p:nvPr/>
        </p:nvSpPr>
        <p:spPr>
          <a:xfrm>
            <a:off x="1700784" y="5010912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Clinical examples</a:t>
            </a:r>
            <a:endParaRPr lang="en-US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1700784" y="539496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Omeprazole, ketoconazole, aspirin, tetracyclines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6254496" y="4681728"/>
            <a:ext cx="5285232" cy="1389888"/>
          </a:xfrm>
          <a:prstGeom prst="roundRect">
            <a:avLst>
              <a:gd name="adj" fmla="val 8553"/>
            </a:avLst>
          </a:prstGeom>
          <a:solidFill>
            <a:schemeClr val="bg2"/>
          </a:solidFill>
          <a:ln/>
        </p:spPr>
      </p:sp>
      <p:sp>
        <p:nvSpPr>
          <p:cNvPr id="34" name="Shape 27"/>
          <p:cNvSpPr/>
          <p:nvPr/>
        </p:nvSpPr>
        <p:spPr>
          <a:xfrm>
            <a:off x="6565392" y="509320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mage 5" descr="/tmp/claude-0/-home-user-jalal/a59d9d9c-9b04-56e9-8ceb-a62df6a7b41b/scratchpad/deck/img/ic_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5785" y="5223601"/>
            <a:ext cx="306141" cy="306141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565392" y="47914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6"/>
                </a:solidFill>
              </a:rPr>
              <a:t>06</a:t>
            </a:r>
            <a:endParaRPr lang="en-US" sz="1150" dirty="0"/>
          </a:p>
        </p:txBody>
      </p:sp>
      <p:sp>
        <p:nvSpPr>
          <p:cNvPr id="37" name="Text 29"/>
          <p:cNvSpPr txBox="1"/>
          <p:nvPr/>
        </p:nvSpPr>
        <p:spPr>
          <a:xfrm>
            <a:off x="7296912" y="5010912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Food, antacids and applications</a:t>
            </a:r>
            <a:endParaRPr lang="en-US" sz="1700" dirty="0"/>
          </a:p>
        </p:txBody>
      </p:sp>
      <p:sp>
        <p:nvSpPr>
          <p:cNvPr id="38" name="Text 30"/>
          <p:cNvSpPr txBox="1"/>
          <p:nvPr/>
        </p:nvSpPr>
        <p:spPr>
          <a:xfrm>
            <a:off x="7296912" y="539496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Interactions and formulation strategies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20624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What is drug absorption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481328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chemeClr val="tx2"/>
                </a:solidFill>
              </a:rPr>
              <a:t>Drug absorption is the movement of a drug from the gastrointestinal tract into the bloodstream.</a:t>
            </a:r>
            <a:endParaRPr lang="en-US" sz="1550" dirty="0"/>
          </a:p>
          <a:p>
            <a:pPr marL="203200" indent="-2032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chemeClr val="tx2"/>
                </a:solidFill>
              </a:rPr>
              <a:t>Most orally administered drugs are absorbed mainly from the small intestine.</a:t>
            </a:r>
            <a:endParaRPr lang="en-US" sz="1550" dirty="0"/>
          </a:p>
          <a:p>
            <a:pPr marL="203200" indent="-2032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chemeClr val="tx2"/>
                </a:solidFill>
              </a:rPr>
              <a:t>Gastrointestinal pH and secretions can affect drug absorption.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4315968"/>
            <a:ext cx="4663440" cy="1389888"/>
          </a:xfrm>
          <a:prstGeom prst="roundRect">
            <a:avLst>
              <a:gd name="adj" fmla="val 8553"/>
            </a:avLst>
          </a:prstGeom>
          <a:solidFill>
            <a:schemeClr val="accent3">
              <a:alpha val="14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4754880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/tmp/claude-0/-home-user-jalal/a59d9d9c-9b04-56e9-8ceb-a62df6a7b41b/scratchpad/deck/img/ic_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463" y="4872655"/>
            <a:ext cx="276515" cy="27651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4407408"/>
            <a:ext cx="3383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Key idea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 conditions can change how much and how quickly a drug is absorbed.</a:t>
            </a:r>
            <a:endParaRPr lang="en-US" sz="1450" dirty="0"/>
          </a:p>
        </p:txBody>
      </p:sp>
      <p:pic>
        <p:nvPicPr>
          <p:cNvPr id="8" name="Image 1" descr="/tmp/claude-0/-home-user-jalal/a59d9d9c-9b04-56e9-8ceb-a62df6a7b41b/scratchpad/deck/img/absorp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755648"/>
            <a:ext cx="5715000" cy="29900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4901184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From the lumen, across the intestinal epithelium, into the blood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20624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Gastrointestinal conditions influence four things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58368" y="1572768"/>
            <a:ext cx="2514600" cy="2788920"/>
          </a:xfrm>
          <a:prstGeom prst="roundRect">
            <a:avLst>
              <a:gd name="adj" fmla="val 472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39700" dist="25400" dir="5400000">
              <a:srgbClr val="0B2B32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59052" y="1956816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/tmp/claude-0/-home-user-jalal/a59d9d9c-9b04-56e9-8ceb-a62df6a7b41b/scratchpad/deck/img/ic_drop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095" y="2120859"/>
            <a:ext cx="385145" cy="3851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871216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Drug solubility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59536" y="3438144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How much drug can dissolve in the GI fluids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47288" y="1572768"/>
            <a:ext cx="2514600" cy="2788920"/>
          </a:xfrm>
          <a:prstGeom prst="roundRect">
            <a:avLst>
              <a:gd name="adj" fmla="val 472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39700" dist="25400" dir="5400000">
              <a:srgbClr val="0B2B32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47972" y="1956816"/>
            <a:ext cx="713232" cy="71323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/tmp/claude-0/-home-user-jalal/a59d9d9c-9b04-56e9-8ceb-a62df6a7b41b/scratchpad/deck/img/ic_char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015" y="2120859"/>
            <a:ext cx="385145" cy="3851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1880" y="2871216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Drug ionization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648456" y="3438144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The balance between ionized and unionized drug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36208" y="1572768"/>
            <a:ext cx="2514600" cy="2788920"/>
          </a:xfrm>
          <a:prstGeom prst="roundRect">
            <a:avLst>
              <a:gd name="adj" fmla="val 472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39700" dist="25400" dir="5400000">
              <a:srgbClr val="0B2B32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36892" y="1956816"/>
            <a:ext cx="713232" cy="71323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2" descr="/tmp/claude-0/-home-user-jalal/a59d9d9c-9b04-56e9-8ceb-a62df6a7b41b/scratchpad/deck/img/ic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935" y="2120859"/>
            <a:ext cx="385145" cy="3851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871216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Drug stability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37376" y="3438144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Whether the drug survives the gastric environment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025128" y="1572768"/>
            <a:ext cx="2514600" cy="2788920"/>
          </a:xfrm>
          <a:prstGeom prst="roundRect">
            <a:avLst>
              <a:gd name="adj" fmla="val 472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39700" dist="25400" dir="5400000">
              <a:srgbClr val="0B2B32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925812" y="1956816"/>
            <a:ext cx="713232" cy="71323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3" descr="/tmp/claude-0/-home-user-jalal/a59d9d9c-9b04-56e9-8ceb-a62df6a7b41b/scratchpad/deck/img/ic_dissol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9855" y="2120859"/>
            <a:ext cx="385145" cy="38514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89720" y="2871216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Drug dissolution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226296" y="3438144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How fast the dosage form releases dissolved drug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58368" y="4809744"/>
            <a:ext cx="10881360" cy="914400"/>
          </a:xfrm>
          <a:prstGeom prst="roundRect">
            <a:avLst>
              <a:gd name="adj" fmla="val 13000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32688" y="5010912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/tmp/claude-0/-home-user-jalal/a59d9d9c-9b04-56e9-8ceb-a62df6a7b41b/scratchpad/deck/img/ic_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463" y="5128687"/>
            <a:ext cx="276515" cy="27651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45920" y="4901184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Together these determine the extent and the rate of oral drug absorption.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6035040" cy="6035040"/>
          </a:xfrm>
          <a:prstGeom prst="ellipse">
            <a:avLst/>
          </a:prstGeom>
          <a:solidFill>
            <a:schemeClr val="accent1">
              <a:alpha val="24000"/>
            </a:schemeClr>
          </a:solidFill>
          <a:ln/>
        </p:spPr>
      </p:sp>
      <p:pic>
        <p:nvPicPr>
          <p:cNvPr id="3" name="!!mark" descr="/tmp/claude-0/-home-user-jalal/a59d9d9c-9b04-56e9-8ceb-a62df6a7b41b/scratchpad/deck/img/gi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188720"/>
            <a:ext cx="2834640" cy="422452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body" hasCustomPrompt="1"/>
          </p:nvPr>
        </p:nvSpPr>
        <p:spPr>
          <a:xfrm>
            <a:off x="658368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SECTION 01</a:t>
            </a:r>
            <a:endParaRPr lang="en-US" sz="16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658368" y="2788920"/>
            <a:ext cx="7406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bg1"/>
                </a:solidFill>
              </a:rPr>
              <a:t>Gastrointestinal pH and Drug Absorption</a:t>
            </a:r>
            <a:endParaRPr lang="en-US" sz="38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658368" y="45262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The gastrointestinal tract has different pH environments</a:t>
            </a:r>
            <a:endParaRPr lang="en-US" sz="1500" dirty="0"/>
          </a:p>
        </p:txBody>
      </p:sp>
    </p:spTree>
  </p:cSld>
  <p:clrMapOvr>
    <a:masterClrMapping/>
  </p:clrMapOvr>
  <p:transition spd="slow" advClick="1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20624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pH changes along the gastrointestinal tract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chemeClr val="accent6"/>
                </a:solidFill>
              </a:rPr>
              <a:t>SITE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3767328" y="1389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chemeClr val="accent6"/>
                </a:solidFill>
              </a:rPr>
              <a:t>APPROXIMATE pH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5486400" cy="859536"/>
          </a:xfrm>
          <a:prstGeom prst="roundRect">
            <a:avLst>
              <a:gd name="adj" fmla="val 13830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929384"/>
            <a:ext cx="512064" cy="51206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Image 0" descr="/tmp/claude-0/-home-user-jalal/a59d9d9c-9b04-56e9-8ceb-a62df6a7b41b/scratchpad/deck/img/ic_ac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599" y="2047159"/>
            <a:ext cx="276515" cy="27651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91056" y="1755648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Stomach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3858768" y="1755648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chemeClr val="accent4"/>
                </a:solidFill>
              </a:rPr>
              <a:t>1 – 3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658368" y="2779776"/>
            <a:ext cx="5486400" cy="859536"/>
          </a:xfrm>
          <a:prstGeom prst="roundRect">
            <a:avLst>
              <a:gd name="adj" fmla="val 13830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877824" y="2953512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mage 1" descr="/tmp/claude-0/-home-user-jalal/a59d9d9c-9b04-56e9-8ceb-a62df6a7b41b/scratchpad/deck/img/ic_drop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599" y="3071287"/>
            <a:ext cx="276515" cy="27651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91056" y="2779776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Duodenum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858768" y="2779776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chemeClr val="accent3"/>
                </a:solidFill>
              </a:rPr>
              <a:t>5 – 6</a:t>
            </a:r>
            <a:endParaRPr lang="en-US" sz="2300" dirty="0"/>
          </a:p>
        </p:txBody>
      </p:sp>
      <p:sp>
        <p:nvSpPr>
          <p:cNvPr id="15" name="Shape 11"/>
          <p:cNvSpPr/>
          <p:nvPr/>
        </p:nvSpPr>
        <p:spPr>
          <a:xfrm>
            <a:off x="658368" y="3803904"/>
            <a:ext cx="5486400" cy="859536"/>
          </a:xfrm>
          <a:prstGeom prst="roundRect">
            <a:avLst>
              <a:gd name="adj" fmla="val 13830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877824" y="397764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/tmp/claude-0/-home-user-jalal/a59d9d9c-9b04-56e9-8ceb-a62df6a7b41b/scratchpad/deck/img/ic_intest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99" y="4095415"/>
            <a:ext cx="276515" cy="27651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91056" y="3803904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Small intestine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3858768" y="3803904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chemeClr val="accent1"/>
                </a:solidFill>
              </a:rPr>
              <a:t>6 – 7.5</a:t>
            </a:r>
            <a:endParaRPr lang="en-US" sz="2300" dirty="0"/>
          </a:p>
        </p:txBody>
      </p:sp>
      <p:pic>
        <p:nvPicPr>
          <p:cNvPr id="20" name="Image 3" descr="/tmp/claude-0/-home-user-jalal/a59d9d9c-9b04-56e9-8ceb-a62df6a7b41b/scratchpad/deck/img/ph_sc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047488"/>
            <a:ext cx="5486400" cy="1014984"/>
          </a:xfrm>
          <a:prstGeom prst="rect">
            <a:avLst/>
          </a:prstGeom>
        </p:spPr>
      </p:pic>
      <p:pic>
        <p:nvPicPr>
          <p:cNvPr id="21" name="!!gi" descr="/tmp/claude-0/-home-user-jalal/a59d9d9c-9b04-56e9-8ceb-a62df6a7b41b/scratchpad/deck/img/gi_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36" y="1298448"/>
            <a:ext cx="4846320" cy="42428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20624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How does pH affect drugs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58368" y="1481328"/>
            <a:ext cx="5285232" cy="1426464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39700" dist="25400" dir="5400000">
              <a:srgbClr val="0B2B32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87552" y="1883664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/tmp/claude-0/-home-user-jalal/a59d9d9c-9b04-56e9-8ceb-a62df6a7b41b/scratchpad/deck/img/ic_drop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64" y="2026676"/>
            <a:ext cx="335768" cy="3357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10512" y="1664208"/>
            <a:ext cx="3931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tx1"/>
                </a:solidFill>
              </a:rPr>
              <a:t>pH can change drug solubility.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254496" y="1481328"/>
            <a:ext cx="5285232" cy="1426464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39700" dist="25400" dir="5400000">
              <a:srgbClr val="0B2B32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0" y="1883664"/>
            <a:ext cx="621792" cy="62179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/tmp/claude-0/-home-user-jalal/a59d9d9c-9b04-56e9-8ceb-a62df6a7b41b/scratchpad/deck/img/ic_char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692" y="2026676"/>
            <a:ext cx="335768" cy="3357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406640" y="1664208"/>
            <a:ext cx="3931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tx1"/>
                </a:solidFill>
              </a:rPr>
              <a:t>pH affects the ionization of weak acids and bases.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58368" y="3182112"/>
            <a:ext cx="5285232" cy="1426464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39700" dist="25400" dir="5400000">
              <a:srgbClr val="0B2B32">
                <a:alpha val="13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87552" y="3584448"/>
            <a:ext cx="621792" cy="62179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mage 2" descr="/tmp/claude-0/-home-user-jalal/a59d9d9c-9b04-56e9-8ceb-a62df6a7b41b/scratchpad/deck/img/ic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564" y="3727460"/>
            <a:ext cx="335768" cy="3357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810512" y="3364992"/>
            <a:ext cx="3931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tx1"/>
                </a:solidFill>
              </a:rPr>
              <a:t>It can affect the stability of acid-sensitive drugs.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6254496" y="3182112"/>
            <a:ext cx="5285232" cy="1426464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39700" dist="25400" dir="5400000">
              <a:srgbClr val="0B2B32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583680" y="3584448"/>
            <a:ext cx="621792" cy="62179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3" descr="/tmp/claude-0/-home-user-jalal/a59d9d9c-9b04-56e9-8ceb-a62df6a7b41b/scratchpad/deck/img/ic_dissol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692" y="3727460"/>
            <a:ext cx="335768" cy="3357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06640" y="3364992"/>
            <a:ext cx="3931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tx1"/>
                </a:solidFill>
              </a:rPr>
              <a:t>It can influence drug dissolution and availability for absorption.</a:t>
            </a:r>
            <a:endParaRPr lang="en-US" sz="1550" dirty="0"/>
          </a:p>
        </p:txBody>
      </p:sp>
      <p:sp>
        <p:nvSpPr>
          <p:cNvPr id="19" name="Shape 13"/>
          <p:cNvSpPr/>
          <p:nvPr/>
        </p:nvSpPr>
        <p:spPr>
          <a:xfrm>
            <a:off x="658368" y="4956048"/>
            <a:ext cx="10881360" cy="1078992"/>
          </a:xfrm>
          <a:prstGeom prst="roundRect">
            <a:avLst>
              <a:gd name="adj" fmla="val 11017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32688" y="5239512"/>
            <a:ext cx="512064" cy="51206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4" descr="/tmp/claude-0/-home-user-jalal/a59d9d9c-9b04-56e9-8ceb-a62df6a7b41b/scratchpad/deck/img/ic_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463" y="5357287"/>
            <a:ext cx="276515" cy="27651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45920" y="5047488"/>
            <a:ext cx="9601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Important. 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Absorption is not determined by pH alone. Surface area, permeability, formulation, and other physiological factors are also important.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20624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Ionized vs. unionized drug</a:t>
            </a:r>
            <a:endParaRPr lang="en-US" sz="3100" dirty="0"/>
          </a:p>
        </p:txBody>
      </p:sp>
      <p:pic>
        <p:nvPicPr>
          <p:cNvPr id="3" name="mem3d" descr="/tmp/claude-0/-home-user-jalal/a59d9d9c-9b04-56e9-8ceb-a62df6a7b41b/scratchpad/deck/img/membrane_3d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27632"/>
            <a:ext cx="6675120" cy="3465576"/>
          </a:xfrm>
          <a:prstGeom prst="rect">
            <a:avLst/>
          </a:prstGeom>
        </p:spPr>
      </p:pic>
      <p:sp>
        <p:nvSpPr>
          <p:cNvPr id="4" name="mem_cap"/>
          <p:cNvSpPr txBox="1"/>
          <p:nvPr/>
        </p:nvSpPr>
        <p:spPr>
          <a:xfrm>
            <a:off x="658368" y="524865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Only the unionized fraction moves freely through the lipid bilayer</a:t>
            </a:r>
            <a:endParaRPr lang="en-US" sz="1300" dirty="0"/>
          </a:p>
        </p:txBody>
      </p:sp>
      <p:sp>
        <p:nvSpPr>
          <p:cNvPr id="5" name="un_bg"/>
          <p:cNvSpPr/>
          <p:nvPr/>
        </p:nvSpPr>
        <p:spPr>
          <a:xfrm>
            <a:off x="7644384" y="1627632"/>
            <a:ext cx="3895344" cy="1700784"/>
          </a:xfrm>
          <a:prstGeom prst="roundRect">
            <a:avLst>
              <a:gd name="adj" fmla="val 6989"/>
            </a:avLst>
          </a:prstGeom>
          <a:solidFill>
            <a:schemeClr val="bg2"/>
          </a:solidFill>
          <a:ln/>
        </p:spPr>
      </p:sp>
      <p:sp>
        <p:nvSpPr>
          <p:cNvPr id="6" name="un_ic"/>
          <p:cNvSpPr/>
          <p:nvPr/>
        </p:nvSpPr>
        <p:spPr>
          <a:xfrm>
            <a:off x="7918704" y="18470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un_ici" descr="/tmp/claude-0/-home-user-jalal/a59d9d9c-9b04-56e9-8ceb-a62df6a7b41b/scratchpad/deck/img/ic_caps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891" y="1973275"/>
            <a:ext cx="296266" cy="296266"/>
          </a:xfrm>
          <a:prstGeom prst="rect">
            <a:avLst/>
          </a:prstGeom>
        </p:spPr>
      </p:pic>
      <p:sp>
        <p:nvSpPr>
          <p:cNvPr id="8" name="un_h"/>
          <p:cNvSpPr txBox="1"/>
          <p:nvPr/>
        </p:nvSpPr>
        <p:spPr>
          <a:xfrm>
            <a:off x="8595360" y="1865376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Unionized form</a:t>
            </a:r>
            <a:endParaRPr lang="en-US" sz="1600" dirty="0"/>
          </a:p>
        </p:txBody>
      </p:sp>
      <p:sp>
        <p:nvSpPr>
          <p:cNvPr id="9" name="un_t"/>
          <p:cNvSpPr txBox="1"/>
          <p:nvPr/>
        </p:nvSpPr>
        <p:spPr>
          <a:xfrm>
            <a:off x="7918704" y="2523744"/>
            <a:ext cx="3346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Generally crosses lipid membranes more easily.</a:t>
            </a:r>
            <a:endParaRPr lang="en-US" sz="1400" dirty="0"/>
          </a:p>
        </p:txBody>
      </p:sp>
      <p:sp>
        <p:nvSpPr>
          <p:cNvPr id="10" name="io_bg"/>
          <p:cNvSpPr/>
          <p:nvPr/>
        </p:nvSpPr>
        <p:spPr>
          <a:xfrm>
            <a:off x="7644384" y="3547872"/>
            <a:ext cx="3895344" cy="1828800"/>
          </a:xfrm>
          <a:prstGeom prst="roundRect">
            <a:avLst>
              <a:gd name="adj" fmla="val 6500"/>
            </a:avLst>
          </a:prstGeom>
          <a:solidFill>
            <a:schemeClr val="bg2"/>
          </a:solidFill>
          <a:ln/>
        </p:spPr>
      </p:sp>
      <p:sp>
        <p:nvSpPr>
          <p:cNvPr id="11" name="io_ic"/>
          <p:cNvSpPr/>
          <p:nvPr/>
        </p:nvSpPr>
        <p:spPr>
          <a:xfrm>
            <a:off x="7918704" y="3767328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o_ici" descr="/tmp/claude-0/-home-user-jalal/a59d9d9c-9b04-56e9-8ceb-a62df6a7b41b/scratchpad/deck/img/ic_char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891" y="3893515"/>
            <a:ext cx="296266" cy="296266"/>
          </a:xfrm>
          <a:prstGeom prst="rect">
            <a:avLst/>
          </a:prstGeom>
        </p:spPr>
      </p:pic>
      <p:sp>
        <p:nvSpPr>
          <p:cNvPr id="13" name="io_h"/>
          <p:cNvSpPr txBox="1"/>
          <p:nvPr/>
        </p:nvSpPr>
        <p:spPr>
          <a:xfrm>
            <a:off x="8595360" y="3785616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Ionized form</a:t>
            </a:r>
            <a:endParaRPr lang="en-US" sz="1600" dirty="0"/>
          </a:p>
        </p:txBody>
      </p:sp>
      <p:sp>
        <p:nvSpPr>
          <p:cNvPr id="14" name="io_t"/>
          <p:cNvSpPr txBox="1"/>
          <p:nvPr/>
        </p:nvSpPr>
        <p:spPr>
          <a:xfrm>
            <a:off x="7918704" y="4443984"/>
            <a:ext cx="3346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Generally has lower membrane permeability but may have higher water solubility.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 advClick="1">
        <p159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60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" dur="6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" presetID="10" presetClass="entr" presetSubtype="0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60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3" dur="6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6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60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1" dur="6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6" presetID="10" presetClass="entr" presetSubtype="0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5" dur="6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0" presetID="10" presetClass="entr" presetSubtype="0" fill="hold" grpId="0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60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9" dur="6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" dur="60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3" dur="6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8" presetID="10" presetClass="entr" presetSubtype="0" fill="hold" grpId="0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60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6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2" presetID="10" presetClass="entr" presetSubtype="0" fill="hold" grpId="0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60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1" dur="6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4" dur="60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5" dur="6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20624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Weak acids and weak bases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58368" y="1463040"/>
            <a:ext cx="5285232" cy="4443984"/>
          </a:xfrm>
          <a:prstGeom prst="roundRect">
            <a:avLst>
              <a:gd name="adj" fmla="val 267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39700" dist="25400" dir="5400000">
              <a:srgbClr val="0B2B32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42416" y="1773936"/>
            <a:ext cx="603504" cy="60350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mage 0" descr="/tmp/claude-0/-home-user-jalal/a59d9d9c-9b04-56e9-8ceb-a62df6a7b41b/scratchpad/deck/img/ic_ac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222" y="1912742"/>
            <a:ext cx="325892" cy="3258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10512" y="18105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Weak acids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042416" y="2542032"/>
            <a:ext cx="4517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Low pH  →  more unionized form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42416" y="2944368"/>
            <a:ext cx="4517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Example: Aspirin</a:t>
            </a:r>
            <a:endParaRPr lang="en-US" sz="1400" dirty="0"/>
          </a:p>
        </p:txBody>
      </p:sp>
      <p:pic>
        <p:nvPicPr>
          <p:cNvPr id="9" name="Image 1" descr="/tmp/claude-0/-home-user-jalal/a59d9d9c-9b04-56e9-8ceb-a62df6a7b41b/scratchpad/deck/img/aspir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364992"/>
            <a:ext cx="3291840" cy="2240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54496" y="1463040"/>
            <a:ext cx="5285232" cy="4443984"/>
          </a:xfrm>
          <a:prstGeom prst="roundRect">
            <a:avLst>
              <a:gd name="adj" fmla="val 267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39700" dist="25400" dir="5400000">
              <a:srgbClr val="0B2B32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638544" y="1773936"/>
            <a:ext cx="603504" cy="60350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mage 2" descr="/tmp/claude-0/-home-user-jalal/a59d9d9c-9b04-56e9-8ceb-a62df6a7b41b/scratchpad/deck/img/ic_drop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350" y="1912742"/>
            <a:ext cx="325892" cy="3258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06640" y="18105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Weak bases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638544" y="2542032"/>
            <a:ext cx="4517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Higher pH  →  more unionized form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638544" y="2944368"/>
            <a:ext cx="4517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opposite pattern to weak acids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638544" y="3529584"/>
            <a:ext cx="4517136" cy="420624"/>
          </a:xfrm>
          <a:prstGeom prst="roundRect">
            <a:avLst>
              <a:gd name="adj" fmla="val 47826"/>
            </a:avLst>
          </a:prstGeom>
          <a:solidFill>
            <a:schemeClr val="accent5">
              <a:alpha val="20000"/>
            </a:schemeClr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803136" y="352958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5"/>
                </a:solidFill>
              </a:rPr>
              <a:t>Gastric pH  1 – 3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641080" y="4041648"/>
            <a:ext cx="512064" cy="512064"/>
          </a:xfrm>
          <a:prstGeom prst="downArrow">
            <a:avLst/>
          </a:prstGeom>
          <a:solidFill>
            <a:schemeClr val="accent5"/>
          </a:solidFill>
          <a:ln/>
        </p:spPr>
      </p:sp>
      <p:sp>
        <p:nvSpPr>
          <p:cNvPr id="19" name="Shape 14"/>
          <p:cNvSpPr/>
          <p:nvPr/>
        </p:nvSpPr>
        <p:spPr>
          <a:xfrm>
            <a:off x="6638544" y="4626864"/>
            <a:ext cx="4517136" cy="420624"/>
          </a:xfrm>
          <a:prstGeom prst="roundRect">
            <a:avLst>
              <a:gd name="adj" fmla="val 47826"/>
            </a:avLst>
          </a:prstGeom>
          <a:solidFill>
            <a:schemeClr val="accent1">
              <a:alpha val="28000"/>
            </a:schemeClr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803136" y="462686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Intestinal pH  6 – 7.5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6638544" y="5120640"/>
            <a:ext cx="4517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chemeClr val="accent6"/>
                </a:solidFill>
              </a:rPr>
              <a:t>more unionized base  →  better permeability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20624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Henderson–Hasselbalch equation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58368" y="1463040"/>
            <a:ext cx="5285232" cy="1591056"/>
          </a:xfrm>
          <a:prstGeom prst="roundRect">
            <a:avLst>
              <a:gd name="adj" fmla="val 747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42416" y="16642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For weak acids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42416" y="2103120"/>
            <a:ext cx="45171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pH  =  pKa  +  log ( [A⁻] / [HA] 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254496" y="1463040"/>
            <a:ext cx="5285232" cy="1591056"/>
          </a:xfrm>
          <a:prstGeom prst="roundRect">
            <a:avLst>
              <a:gd name="adj" fmla="val 747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38544" y="16642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For weak bases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638544" y="2103120"/>
            <a:ext cx="45171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pH  =  pKa  +  log ( [B] / [BH⁺] )</a:t>
            </a:r>
            <a:endParaRPr lang="en-US" sz="2400" dirty="0"/>
          </a:p>
        </p:txBody>
      </p:sp>
      <p:pic>
        <p:nvPicPr>
          <p:cNvPr id="9" name="Image 0" descr="/tmp/claude-0/-home-user-jalal/a59d9d9c-9b04-56e9-8ceb-a62df6a7b41b/scratchpad/deck/img/equilibr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0168" y="3273552"/>
            <a:ext cx="4937760" cy="2057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8368" y="5431536"/>
            <a:ext cx="10881360" cy="768096"/>
          </a:xfrm>
          <a:prstGeom prst="roundRect">
            <a:avLst>
              <a:gd name="adj" fmla="val 15476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5559552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/tmp/claude-0/-home-user-jalal/a59d9d9c-9b04-56e9-8ceb-a62df6a7b41b/scratchpad/deck/img/ic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463" y="5677327"/>
            <a:ext cx="276515" cy="27651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5522976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Key point.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pH determines the ratio of ionized to unionized drug.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6035040" cy="6035040"/>
          </a:xfrm>
          <a:prstGeom prst="ellipse">
            <a:avLst/>
          </a:prstGeom>
          <a:solidFill>
            <a:schemeClr val="accent1">
              <a:alpha val="24000"/>
            </a:schemeClr>
          </a:solidFill>
          <a:ln/>
        </p:spPr>
      </p:sp>
      <p:pic>
        <p:nvPicPr>
          <p:cNvPr id="3" name="!!mark" descr="/tmp/claude-0/-home-user-jalal/a59d9d9c-9b04-56e9-8ceb-a62df6a7b41b/scratchpad/deck/img/gi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188720"/>
            <a:ext cx="2834640" cy="422452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body" hasCustomPrompt="1"/>
          </p:nvPr>
        </p:nvSpPr>
        <p:spPr>
          <a:xfrm>
            <a:off x="658368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SECTION 02</a:t>
            </a:r>
            <a:endParaRPr lang="en-US" sz="16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658368" y="2788920"/>
            <a:ext cx="7406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bg1"/>
                </a:solidFill>
              </a:rPr>
              <a:t>Gastrointestinal Secretions</a:t>
            </a:r>
            <a:endParaRPr lang="en-US" sz="38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658368" y="45262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Acid, bicarbonate, bile salts and intestinal fluid</a:t>
            </a:r>
            <a:endParaRPr lang="en-US" sz="1500" dirty="0"/>
          </a:p>
        </p:txBody>
      </p:sp>
    </p:spTree>
  </p:cSld>
  <p:clrMapOvr>
    <a:masterClrMapping/>
  </p:clrMapOvr>
  <p:transition spd="slow" advClick="1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20624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Gastric acid and bicarbonate</a:t>
            </a:r>
            <a:endParaRPr lang="en-US" sz="3100" dirty="0"/>
          </a:p>
        </p:txBody>
      </p:sp>
      <p:pic>
        <p:nvPicPr>
          <p:cNvPr id="3" name="Image 0" descr="/tmp/claude-0/-home-user-jalal/a59d9d9c-9b04-56e9-8ceb-a62df6a7b41b/scratchpad/deck/img/secre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828800"/>
            <a:ext cx="6035040" cy="34838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0624" y="5413248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Acid from the stomach is neutralized by pancreatic bicarbonate in the duodenum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766560" y="1463040"/>
            <a:ext cx="4773168" cy="2139696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7059168" y="1700784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Image 1" descr="/tmp/claude-0/-home-user-jalal/a59d9d9c-9b04-56e9-8ceb-a62df6a7b41b/scratchpad/deck/img/ic_ac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561" y="1831177"/>
            <a:ext cx="306141" cy="30614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54112" y="17190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Gastric acid (HCl)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077456" y="2377440"/>
            <a:ext cx="41513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Produced by parietal cells.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Creates the acidic gastric environment.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Can affect drug solubility, ionization, and stability.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766560" y="3803904"/>
            <a:ext cx="4773168" cy="2121408"/>
          </a:xfrm>
          <a:prstGeom prst="roundRect">
            <a:avLst>
              <a:gd name="adj" fmla="val 5603"/>
            </a:avLst>
          </a:prstGeom>
          <a:solidFill>
            <a:schemeClr val="bg2"/>
          </a:solidFill>
          <a:ln/>
        </p:spPr>
      </p:sp>
      <p:sp>
        <p:nvSpPr>
          <p:cNvPr id="11" name="Shape 7"/>
          <p:cNvSpPr/>
          <p:nvPr/>
        </p:nvSpPr>
        <p:spPr>
          <a:xfrm>
            <a:off x="7059168" y="404164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/tmp/claude-0/-home-user-jalal/a59d9d9c-9b04-56e9-8ceb-a62df6a7b41b/scratchpad/deck/img/ic_beak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561" y="4172041"/>
            <a:ext cx="306141" cy="30614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754112" y="405993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Bicarbonate (HCO₃⁻)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7077456" y="4718304"/>
            <a:ext cx="41513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Mainly supplied to the duodenum by pancreatic secretions.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Helps neutralize gastric acid.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Raises intestinal pH.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20624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Bile salts and intestinal secretions</a:t>
            </a:r>
            <a:endParaRPr lang="en-US" sz="3100" dirty="0"/>
          </a:p>
        </p:txBody>
      </p:sp>
      <p:sp>
        <p:nvSpPr>
          <p:cNvPr id="3" name="bile_bg"/>
          <p:cNvSpPr/>
          <p:nvPr/>
        </p:nvSpPr>
        <p:spPr>
          <a:xfrm>
            <a:off x="658368" y="1463040"/>
            <a:ext cx="6400800" cy="2395728"/>
          </a:xfrm>
          <a:prstGeom prst="roundRect">
            <a:avLst>
              <a:gd name="adj" fmla="val 496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39700" dist="25400" dir="5400000">
              <a:srgbClr val="0B2B32">
                <a:alpha val="13000"/>
              </a:srgbClr>
            </a:outerShdw>
          </a:effectLst>
        </p:spPr>
      </p:sp>
      <p:sp>
        <p:nvSpPr>
          <p:cNvPr id="4" name="bile_ic"/>
          <p:cNvSpPr/>
          <p:nvPr/>
        </p:nvSpPr>
        <p:spPr>
          <a:xfrm>
            <a:off x="1042416" y="1737360"/>
            <a:ext cx="603504" cy="60350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bile_ici" descr="/tmp/claude-0/-home-user-jalal/a59d9d9c-9b04-56e9-8ceb-a62df6a7b41b/scratchpad/deck/img/ic_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222" y="1876166"/>
            <a:ext cx="325892" cy="325892"/>
          </a:xfrm>
          <a:prstGeom prst="rect">
            <a:avLst/>
          </a:prstGeom>
        </p:spPr>
      </p:pic>
      <p:sp>
        <p:nvSpPr>
          <p:cNvPr id="6" name="bile_h"/>
          <p:cNvSpPr txBox="1"/>
          <p:nvPr/>
        </p:nvSpPr>
        <p:spPr>
          <a:xfrm>
            <a:off x="1810512" y="17739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Bile salts</a:t>
            </a:r>
            <a:endParaRPr lang="en-US" sz="2000" dirty="0"/>
          </a:p>
        </p:txBody>
      </p:sp>
      <p:sp>
        <p:nvSpPr>
          <p:cNvPr id="7" name="bile_b"/>
          <p:cNvSpPr txBox="1"/>
          <p:nvPr/>
        </p:nvSpPr>
        <p:spPr>
          <a:xfrm>
            <a:off x="1060704" y="2523744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2"/>
                </a:solidFill>
              </a:rPr>
              <a:t>Secreted into the small intestine.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2"/>
                </a:solidFill>
              </a:rPr>
              <a:t>Form micelles and improve the solubilization of some poorly water-soluble drugs.</a:t>
            </a:r>
            <a:endParaRPr lang="en-US" sz="1450" dirty="0"/>
          </a:p>
        </p:txBody>
      </p:sp>
      <p:pic>
        <p:nvPicPr>
          <p:cNvPr id="8" name="mic3d" descr="/tmp/claude-0/-home-user-jalal/a59d9d9c-9b04-56e9-8ceb-a62df6a7b41b/scratchpad/deck/img/micelle_3d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4" y="1335024"/>
            <a:ext cx="2926080" cy="2926080"/>
          </a:xfrm>
          <a:prstGeom prst="rect">
            <a:avLst/>
          </a:prstGeom>
        </p:spPr>
      </p:pic>
      <p:sp>
        <p:nvSpPr>
          <p:cNvPr id="9" name="intes_bg"/>
          <p:cNvSpPr/>
          <p:nvPr/>
        </p:nvSpPr>
        <p:spPr>
          <a:xfrm>
            <a:off x="658368" y="4352544"/>
            <a:ext cx="10881360" cy="1572768"/>
          </a:xfrm>
          <a:prstGeom prst="roundRect">
            <a:avLst>
              <a:gd name="adj" fmla="val 755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39700" dist="25400" dir="5400000">
              <a:srgbClr val="0B2B32">
                <a:alpha val="13000"/>
              </a:srgbClr>
            </a:outerShdw>
          </a:effectLst>
        </p:spPr>
      </p:sp>
      <p:sp>
        <p:nvSpPr>
          <p:cNvPr id="10" name="intes_ic"/>
          <p:cNvSpPr/>
          <p:nvPr/>
        </p:nvSpPr>
        <p:spPr>
          <a:xfrm>
            <a:off x="1042416" y="4663440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ntes_ici" descr="/tmp/claude-0/-home-user-jalal/a59d9d9c-9b04-56e9-8ceb-a62df6a7b41b/scratchpad/deck/img/ic_exch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222" y="4802246"/>
            <a:ext cx="325892" cy="325892"/>
          </a:xfrm>
          <a:prstGeom prst="rect">
            <a:avLst/>
          </a:prstGeom>
        </p:spPr>
      </p:pic>
      <p:sp>
        <p:nvSpPr>
          <p:cNvPr id="12" name="intes_h"/>
          <p:cNvSpPr txBox="1"/>
          <p:nvPr/>
        </p:nvSpPr>
        <p:spPr>
          <a:xfrm>
            <a:off x="1810512" y="47000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Intestinal secretions</a:t>
            </a:r>
            <a:endParaRPr lang="en-US" sz="2000" dirty="0"/>
          </a:p>
        </p:txBody>
      </p:sp>
      <p:sp>
        <p:nvSpPr>
          <p:cNvPr id="13" name="intes_b"/>
          <p:cNvSpPr txBox="1"/>
          <p:nvPr/>
        </p:nvSpPr>
        <p:spPr>
          <a:xfrm>
            <a:off x="5577840" y="4626864"/>
            <a:ext cx="5760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Provide water, electrolytes, mucus, and enzymes.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Support drug dissolution and movement toward the intestinal surface.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 advClick="1">
        <p159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600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" dur="60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60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0" dur="6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60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4" dur="6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60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8" dur="6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3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60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6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8" presetID="23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80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6" dur="800" fill="hold"/>
                                  <p:tgtEl>
                                    <p:spTgt spid="8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w*0.6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7" dur="800" fill="hold"/>
                                  <p:tgtEl>
                                    <p:spTgt spid="8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h*0.6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2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60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1" dur="6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6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60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5" dur="6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60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9" dur="6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4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60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3" dur="6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8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60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6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6035040" cy="6035040"/>
          </a:xfrm>
          <a:prstGeom prst="ellipse">
            <a:avLst/>
          </a:prstGeom>
          <a:solidFill>
            <a:schemeClr val="accent1">
              <a:alpha val="24000"/>
            </a:schemeClr>
          </a:solidFill>
          <a:ln/>
        </p:spPr>
      </p:sp>
      <p:pic>
        <p:nvPicPr>
          <p:cNvPr id="3" name="!!mark" descr="/tmp/claude-0/-home-user-jalal/a59d9d9c-9b04-56e9-8ceb-a62df6a7b41b/scratchpad/deck/img/gi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188720"/>
            <a:ext cx="2834640" cy="422452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body" hasCustomPrompt="1"/>
          </p:nvPr>
        </p:nvSpPr>
        <p:spPr>
          <a:xfrm>
            <a:off x="658368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SECTION 03</a:t>
            </a:r>
            <a:endParaRPr lang="en-US" sz="16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658368" y="2788920"/>
            <a:ext cx="7406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bg1"/>
                </a:solidFill>
              </a:rPr>
              <a:t>Clinical Examples</a:t>
            </a:r>
            <a:endParaRPr lang="en-US" sz="38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658368" y="45262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Four drugs whose absorption depends on GI pH and secretions</a:t>
            </a:r>
            <a:endParaRPr lang="en-US" sz="1500" dirty="0"/>
          </a:p>
        </p:txBody>
      </p:sp>
    </p:spTree>
  </p:cSld>
  <p:clrMapOvr>
    <a:masterClrMapping/>
  </p:clrMapOvr>
  <p:transition spd="slow" advClick="1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20624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Omeprazole and ketoconazole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58368" y="1426464"/>
            <a:ext cx="5285232" cy="4517136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" y="1682496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/tmp/claude-0/-home-user-jalal/a59d9d9c-9b04-56e9-8ceb-a62df6a7b41b/scratchpad/deck/img/ic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934" y="1821302"/>
            <a:ext cx="325892" cy="3258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92224" y="17190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Omeprazole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042416" y="2377440"/>
            <a:ext cx="45354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Acid-sensitive drug.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Formulated as a delayed-release, enteric-coated dosage form.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Protects the drug from gastric acid.</a:t>
            </a:r>
            <a:endParaRPr lang="en-US" sz="1400" dirty="0"/>
          </a:p>
        </p:txBody>
      </p:sp>
      <p:pic>
        <p:nvPicPr>
          <p:cNvPr id="8" name="ent3d" descr="/tmp/claude-0/-home-user-jalal/a59d9d9c-9b04-56e9-8ceb-a62df6a7b41b/scratchpad/deck/img/enteric_3d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3675888"/>
            <a:ext cx="4206240" cy="21945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54496" y="1426464"/>
            <a:ext cx="5285232" cy="4517136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/>
        </p:spPr>
      </p:sp>
      <p:sp>
        <p:nvSpPr>
          <p:cNvPr id="10" name="Shape 6"/>
          <p:cNvSpPr/>
          <p:nvPr/>
        </p:nvSpPr>
        <p:spPr>
          <a:xfrm>
            <a:off x="6620256" y="1682496"/>
            <a:ext cx="603504" cy="60350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mage 2" descr="/tmp/claude-0/-home-user-jalal/a59d9d9c-9b04-56e9-8ceb-a62df6a7b41b/scratchpad/deck/img/ic_ac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062" y="1821302"/>
            <a:ext cx="325892" cy="3258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388352" y="17190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Ketoconazole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6638544" y="2432304"/>
            <a:ext cx="4535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Oral absorption depends on an acidic environment.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Increased gastric pH may reduce its dissolution and absorption.</a:t>
            </a:r>
            <a:endParaRPr lang="en-US" sz="1400" dirty="0"/>
          </a:p>
        </p:txBody>
      </p:sp>
      <p:sp>
        <p:nvSpPr>
          <p:cNvPr id="14" name="k0_bg"/>
          <p:cNvSpPr/>
          <p:nvPr/>
        </p:nvSpPr>
        <p:spPr>
          <a:xfrm>
            <a:off x="6638544" y="3712464"/>
            <a:ext cx="4517136" cy="603504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k0_ic"/>
          <p:cNvSpPr/>
          <p:nvPr/>
        </p:nvSpPr>
        <p:spPr>
          <a:xfrm>
            <a:off x="6784848" y="3776472"/>
            <a:ext cx="475488" cy="47548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k0_ici" descr="/tmp/claude-0/-home-user-jalal/a59d9d9c-9b04-56e9-8ceb-a62df6a7b41b/scratchpad/deck/img/ic_bott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210" y="3885834"/>
            <a:ext cx="256764" cy="256764"/>
          </a:xfrm>
          <a:prstGeom prst="rect">
            <a:avLst/>
          </a:prstGeom>
        </p:spPr>
      </p:pic>
      <p:sp>
        <p:nvSpPr>
          <p:cNvPr id="17" name="k0_t"/>
          <p:cNvSpPr txBox="1"/>
          <p:nvPr/>
        </p:nvSpPr>
        <p:spPr>
          <a:xfrm>
            <a:off x="7388352" y="371246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Gastric pH rises</a:t>
            </a:r>
            <a:endParaRPr lang="en-US" sz="1450" dirty="0"/>
          </a:p>
        </p:txBody>
      </p:sp>
      <p:sp>
        <p:nvSpPr>
          <p:cNvPr id="18" name="k0_ar"/>
          <p:cNvSpPr/>
          <p:nvPr/>
        </p:nvSpPr>
        <p:spPr>
          <a:xfrm rot="10800000">
            <a:off x="8787384" y="4352544"/>
            <a:ext cx="219456" cy="9144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9" name="k1_bg"/>
          <p:cNvSpPr/>
          <p:nvPr/>
        </p:nvSpPr>
        <p:spPr>
          <a:xfrm>
            <a:off x="6638544" y="4462272"/>
            <a:ext cx="4517136" cy="603504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k1_ic"/>
          <p:cNvSpPr/>
          <p:nvPr/>
        </p:nvSpPr>
        <p:spPr>
          <a:xfrm>
            <a:off x="6784848" y="4526280"/>
            <a:ext cx="475488" cy="47548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k1_ici" descr="/tmp/claude-0/-home-user-jalal/a59d9d9c-9b04-56e9-8ceb-a62df6a7b41b/scratchpad/deck/img/ic_dissol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210" y="4635642"/>
            <a:ext cx="256764" cy="256764"/>
          </a:xfrm>
          <a:prstGeom prst="rect">
            <a:avLst/>
          </a:prstGeom>
        </p:spPr>
      </p:pic>
      <p:sp>
        <p:nvSpPr>
          <p:cNvPr id="22" name="k1_t"/>
          <p:cNvSpPr txBox="1"/>
          <p:nvPr/>
        </p:nvSpPr>
        <p:spPr>
          <a:xfrm>
            <a:off x="7388352" y="446227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Dissolution falls</a:t>
            </a:r>
            <a:endParaRPr lang="en-US" sz="1450" dirty="0"/>
          </a:p>
        </p:txBody>
      </p:sp>
      <p:sp>
        <p:nvSpPr>
          <p:cNvPr id="23" name="k1_ar"/>
          <p:cNvSpPr/>
          <p:nvPr/>
        </p:nvSpPr>
        <p:spPr>
          <a:xfrm rot="10800000">
            <a:off x="8787384" y="5102352"/>
            <a:ext cx="219456" cy="9144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4" name="k2_bg"/>
          <p:cNvSpPr/>
          <p:nvPr/>
        </p:nvSpPr>
        <p:spPr>
          <a:xfrm>
            <a:off x="6638544" y="5212080"/>
            <a:ext cx="4517136" cy="603504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k2_ic"/>
          <p:cNvSpPr/>
          <p:nvPr/>
        </p:nvSpPr>
        <p:spPr>
          <a:xfrm>
            <a:off x="6784848" y="5276088"/>
            <a:ext cx="475488" cy="47548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k2_ici" descr="/tmp/claude-0/-home-user-jalal/a59d9d9c-9b04-56e9-8ceb-a62df6a7b41b/scratchpad/deck/img/ic_tre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210" y="5385450"/>
            <a:ext cx="256764" cy="256764"/>
          </a:xfrm>
          <a:prstGeom prst="rect">
            <a:avLst/>
          </a:prstGeom>
        </p:spPr>
      </p:pic>
      <p:sp>
        <p:nvSpPr>
          <p:cNvPr id="27" name="k2_t"/>
          <p:cNvSpPr txBox="1"/>
          <p:nvPr/>
        </p:nvSpPr>
        <p:spPr>
          <a:xfrm>
            <a:off x="7388352" y="521208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Absorption falls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 advClick="1">
        <p159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8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50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" dur="50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" presetID="10" presetClass="entr" presetSubtype="0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3" dur="50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500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5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500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6" presetID="10" presetClass="entr" presetSubtype="0" fill="hold" grpId="0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5" dur="5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0" presetID="10" presetClass="entr" presetSubtype="0" fill="hold" grpId="0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500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9" dur="50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" dur="500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3" dur="50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8" presetID="10" presetClass="entr" presetSubtype="0" fill="hold" grpId="0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50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2" presetID="10" presetClass="entr" presetSubtype="0" fill="hold" grpId="0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500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1" dur="50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4" dur="500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5" dur="50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0" presetID="10" presetClass="entr" presetSubtype="0" fill="hold" grpId="0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2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9" dur="500" fill="hold"/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4" presetID="10" presetClass="entr" presetSubtype="0" fill="hold" grpId="0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2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3" dur="500" fill="hold"/>
                                  <p:tgtEl>
                                    <p:spTgt spid="2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8" presetID="10" presetClass="entr" presetSubtype="0" fill="hold" grpId="0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500"/>
                                  <p:tgtEl>
                                    <p:spTgt spid="2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500" fill="hold"/>
                                  <p:tgtEl>
                                    <p:spTgt spid="2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2" presetID="10" presetClass="entr" presetSubtype="0" fill="hold" grpId="0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1" dur="50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20624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Aspirin and tetracyclines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58368" y="1426464"/>
            <a:ext cx="5285232" cy="4517136"/>
          </a:xfrm>
          <a:prstGeom prst="roundRect">
            <a:avLst>
              <a:gd name="adj" fmla="val 26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39700" dist="25400" dir="5400000">
              <a:srgbClr val="0B2B32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24128" y="1682496"/>
            <a:ext cx="603504" cy="60350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mage 0" descr="/tmp/claude-0/-home-user-jalal/a59d9d9c-9b04-56e9-8ceb-a62df6a7b41b/scratchpad/deck/img/ic_ac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934" y="1821302"/>
            <a:ext cx="325892" cy="3258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92224" y="17190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Aspirin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042416" y="2432304"/>
            <a:ext cx="45354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 weak acid.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Its ionization changes with GI pH.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However, most drug absorption occurs in the small intestine because of its large surface area.</a:t>
            </a:r>
            <a:endParaRPr lang="en-US" sz="1400" dirty="0"/>
          </a:p>
        </p:txBody>
      </p:sp>
      <p:sp>
        <p:nvSpPr>
          <p:cNvPr id="8" name="surf_bg"/>
          <p:cNvSpPr/>
          <p:nvPr/>
        </p:nvSpPr>
        <p:spPr>
          <a:xfrm>
            <a:off x="1042416" y="4261104"/>
            <a:ext cx="4535424" cy="1426464"/>
          </a:xfrm>
          <a:prstGeom prst="roundRect">
            <a:avLst>
              <a:gd name="adj" fmla="val 8333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9" name="surf_ic"/>
          <p:cNvSpPr/>
          <p:nvPr/>
        </p:nvSpPr>
        <p:spPr>
          <a:xfrm>
            <a:off x="1335024" y="4663440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surf_ici" descr="/tmp/claude-0/-home-user-jalal/a59d9d9c-9b04-56e9-8ceb-a62df6a7b41b/scratchpad/deck/img/ic_intest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036" y="4806452"/>
            <a:ext cx="335768" cy="335768"/>
          </a:xfrm>
          <a:prstGeom prst="rect">
            <a:avLst/>
          </a:prstGeom>
        </p:spPr>
      </p:pic>
      <p:sp>
        <p:nvSpPr>
          <p:cNvPr id="11" name="surf_t"/>
          <p:cNvSpPr txBox="1"/>
          <p:nvPr/>
        </p:nvSpPr>
        <p:spPr>
          <a:xfrm>
            <a:off x="2139696" y="4407408"/>
            <a:ext cx="3291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Surface area wins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Site of absorption is not decided by pH alone.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54496" y="1426464"/>
            <a:ext cx="5285232" cy="4517136"/>
          </a:xfrm>
          <a:prstGeom prst="roundRect">
            <a:avLst>
              <a:gd name="adj" fmla="val 26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39700" dist="25400" dir="5400000">
              <a:srgbClr val="0B2B32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20256" y="1682496"/>
            <a:ext cx="603504" cy="60350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4" name="Image 2" descr="/tmp/claude-0/-home-user-jalal/a59d9d9c-9b04-56e9-8ceb-a62df6a7b41b/scratchpad/deck/img/ic_exch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062" y="1821302"/>
            <a:ext cx="325892" cy="3258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388352" y="17190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Tetracyclines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6638544" y="2432304"/>
            <a:ext cx="4535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Can form complexes with calcium, iron, and magnesium.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This can reduce drug absorption.</a:t>
            </a:r>
            <a:endParaRPr lang="en-US" sz="1400" dirty="0"/>
          </a:p>
        </p:txBody>
      </p:sp>
      <p:pic>
        <p:nvPicPr>
          <p:cNvPr id="17" name="che3d" descr="/tmp/claude-0/-home-user-jalal/a59d9d9c-9b04-56e9-8ceb-a62df6a7b41b/scratchpad/deck/img/chelation_3d.gi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3438144"/>
            <a:ext cx="3803904" cy="23225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 advClick="1">
        <p159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23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800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" dur="800" fill="hold"/>
                                  <p:tgtEl>
                                    <p:spTgt spid="17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w*0.6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800" fill="hold"/>
                                  <p:tgtEl>
                                    <p:spTgt spid="17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h*0.6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60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1" dur="6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60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5" dur="6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60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9" dur="6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4" presetID="10" presetClass="entr" presetSubtype="0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60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3" dur="6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20624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Food, antacids and proton pump inhibitors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58368" y="1426464"/>
            <a:ext cx="5760720" cy="4498848"/>
          </a:xfrm>
          <a:prstGeom prst="roundRect">
            <a:avLst>
              <a:gd name="adj" fmla="val 2642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" y="1700784"/>
            <a:ext cx="603504" cy="60350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/tmp/claude-0/-home-user-jalal/a59d9d9c-9b04-56e9-8ceb-a62df6a7b41b/scratchpad/deck/img/ic_f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222" y="1839590"/>
            <a:ext cx="325892" cy="3258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10512" y="17373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Food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060704" y="23957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Food may: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60704" y="27432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Change gastric pH.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Delay gastric emptying.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Increase bile secretion.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Bind to some drugs.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Increase or decrease drug absorption.</a:t>
            </a:r>
            <a:endParaRPr lang="en-US" sz="1400" dirty="0"/>
          </a:p>
        </p:txBody>
      </p:sp>
      <p:pic>
        <p:nvPicPr>
          <p:cNvPr id="9" name="Image 1" descr="/tmp/claude-0/-home-user-jalal/a59d9d9c-9b04-56e9-8ceb-a62df6a7b41b/scratchpad/deck/img/foo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968" y="3968496"/>
            <a:ext cx="3017520" cy="18470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766560" y="1426464"/>
            <a:ext cx="4773168" cy="4498848"/>
          </a:xfrm>
          <a:prstGeom prst="roundRect">
            <a:avLst>
              <a:gd name="adj" fmla="val 2642"/>
            </a:avLst>
          </a:prstGeom>
          <a:solidFill>
            <a:schemeClr val="bg2"/>
          </a:solidFill>
          <a:ln/>
        </p:spPr>
      </p:sp>
      <p:sp>
        <p:nvSpPr>
          <p:cNvPr id="11" name="Shape 7"/>
          <p:cNvSpPr/>
          <p:nvPr/>
        </p:nvSpPr>
        <p:spPr>
          <a:xfrm>
            <a:off x="7150608" y="1700784"/>
            <a:ext cx="603504" cy="60350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mage 2" descr="/tmp/claude-0/-home-user-jalal/a59d9d9c-9b04-56e9-8ceb-a62df6a7b41b/scratchpad/deck/img/ic_bott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414" y="1839590"/>
            <a:ext cx="325892" cy="3258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918704" y="17373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Antacids &amp; PPIs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7150608" y="2432304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2"/>
                </a:solidFill>
              </a:rPr>
              <a:t>Increase gastric pH.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2"/>
                </a:solidFill>
              </a:rPr>
              <a:t>May reduce the absorption of drugs that require an acidic environment for dissolution.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7150608" y="4041648"/>
            <a:ext cx="4023360" cy="420624"/>
          </a:xfrm>
          <a:prstGeom prst="roundRect">
            <a:avLst>
              <a:gd name="adj" fmla="val 47826"/>
            </a:avLst>
          </a:prstGeom>
          <a:solidFill>
            <a:schemeClr val="accent4">
              <a:alpha val="16000"/>
            </a:schemeClr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315200" y="40416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4"/>
                </a:solidFill>
              </a:rPr>
              <a:t>Normal gastric pH  1 – 3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906256" y="4535424"/>
            <a:ext cx="512064" cy="512064"/>
          </a:xfrm>
          <a:prstGeom prst="downArrow">
            <a:avLst/>
          </a:prstGeom>
          <a:solidFill>
            <a:schemeClr val="accent5"/>
          </a:solidFill>
          <a:ln/>
        </p:spPr>
      </p:sp>
      <p:sp>
        <p:nvSpPr>
          <p:cNvPr id="18" name="Shape 13"/>
          <p:cNvSpPr/>
          <p:nvPr/>
        </p:nvSpPr>
        <p:spPr>
          <a:xfrm>
            <a:off x="7150608" y="5120640"/>
            <a:ext cx="4023360" cy="420624"/>
          </a:xfrm>
          <a:prstGeom prst="roundRect">
            <a:avLst>
              <a:gd name="adj" fmla="val 47826"/>
            </a:avLst>
          </a:prstGeom>
          <a:solidFill>
            <a:schemeClr val="accent5">
              <a:alpha val="20000"/>
            </a:schemeClr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7315200" y="512064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5"/>
                </a:solidFill>
              </a:rPr>
              <a:t>With an antacid or PPI  →  higher pH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7150608" y="55778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Example: ketoconazole taken with an antacid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20624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Pharmaceutical applications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58368" y="1591056"/>
            <a:ext cx="3383280" cy="1956816"/>
          </a:xfrm>
          <a:prstGeom prst="roundRect">
            <a:avLst>
              <a:gd name="adj" fmla="val 607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39700" dist="25400" dir="5400000">
              <a:srgbClr val="0B2B32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65960" y="1975104"/>
            <a:ext cx="768096" cy="7680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/tmp/claude-0/-home-user-jalal/a59d9d9c-9b04-56e9-8ceb-a62df6a7b41b/scratchpad/deck/img/ic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2622" y="2151766"/>
            <a:ext cx="414772" cy="4147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1248" y="29077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chemeClr val="tx1"/>
                </a:solidFill>
              </a:rPr>
              <a:t>Enteric-coated tablets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407408" y="1591056"/>
            <a:ext cx="3383280" cy="1956816"/>
          </a:xfrm>
          <a:prstGeom prst="roundRect">
            <a:avLst>
              <a:gd name="adj" fmla="val 607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39700" dist="25400" dir="5400000">
              <a:srgbClr val="0B2B32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15000" y="1975104"/>
            <a:ext cx="768096" cy="76809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/tmp/claude-0/-home-user-jalal/a59d9d9c-9b04-56e9-8ceb-a62df6a7b41b/scratchpad/deck/img/ic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662" y="2151766"/>
            <a:ext cx="414772" cy="4147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90288" y="29077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chemeClr val="tx1"/>
                </a:solidFill>
              </a:rPr>
              <a:t>pH-dependent drug delivery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8156448" y="1591056"/>
            <a:ext cx="3383280" cy="1956816"/>
          </a:xfrm>
          <a:prstGeom prst="roundRect">
            <a:avLst>
              <a:gd name="adj" fmla="val 607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39700" dist="25400" dir="5400000">
              <a:srgbClr val="0B2B32">
                <a:alpha val="13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464040" y="1975104"/>
            <a:ext cx="768096" cy="7680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2" descr="/tmp/claude-0/-home-user-jalal/a59d9d9c-9b04-56e9-8ceb-a62df6a7b41b/scratchpad/deck/img/ic_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702" y="2151766"/>
            <a:ext cx="414772" cy="4147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39328" y="29077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chemeClr val="tx1"/>
                </a:solidFill>
              </a:rPr>
              <a:t>Delayed-release formulations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658368" y="3931920"/>
            <a:ext cx="5266944" cy="1828800"/>
          </a:xfrm>
          <a:prstGeom prst="roundRect">
            <a:avLst>
              <a:gd name="adj" fmla="val 6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39700" dist="25400" dir="5400000">
              <a:srgbClr val="0B2B32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1042416" y="4462272"/>
            <a:ext cx="768096" cy="768096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Image 3" descr="/tmp/claude-0/-home-user-jalal/a59d9d9c-9b04-56e9-8ceb-a62df6a7b41b/scratchpad/deck/img/ic_tr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078" y="4638934"/>
            <a:ext cx="414772" cy="41477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993392" y="4251960"/>
            <a:ext cx="3621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tx1"/>
                </a:solidFill>
              </a:rPr>
              <a:t>Improving bioavailability</a:t>
            </a:r>
            <a:endParaRPr lang="en-US" sz="1650" dirty="0"/>
          </a:p>
        </p:txBody>
      </p:sp>
      <p:sp>
        <p:nvSpPr>
          <p:cNvPr id="19" name="Shape 13"/>
          <p:cNvSpPr/>
          <p:nvPr/>
        </p:nvSpPr>
        <p:spPr>
          <a:xfrm>
            <a:off x="6272784" y="3931920"/>
            <a:ext cx="5266944" cy="1828800"/>
          </a:xfrm>
          <a:prstGeom prst="roundRect">
            <a:avLst>
              <a:gd name="adj" fmla="val 6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39700" dist="25400" dir="5400000">
              <a:srgbClr val="0B2B32">
                <a:alpha val="13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656832" y="4462272"/>
            <a:ext cx="768096" cy="768096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4" descr="/tmp/claude-0/-home-user-jalal/a59d9d9c-9b04-56e9-8ceb-a62df6a7b41b/scratchpad/deck/img/ic_exch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3494" y="4638934"/>
            <a:ext cx="414772" cy="41477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607808" y="4251960"/>
            <a:ext cx="3621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tx1"/>
                </a:solidFill>
              </a:rPr>
              <a:t>Managing drug–drug and drug–food interactions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2651760"/>
            <a:ext cx="4937760" cy="493776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pic>
        <p:nvPicPr>
          <p:cNvPr id="3" name="!!mark" descr="/tmp/claude-0/-home-user-jalal/a59d9d9c-9b04-56e9-8ceb-a62df6a7b41b/scratchpad/deck/img/gi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1828800"/>
            <a:ext cx="2286000" cy="341071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58368" y="65836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Key takeaways</a:t>
            </a:r>
            <a:endParaRPr lang="en-US" sz="3400" dirty="0"/>
          </a:p>
        </p:txBody>
      </p:sp>
      <p:sp>
        <p:nvSpPr>
          <p:cNvPr id="5" name="tk0_bg"/>
          <p:cNvSpPr/>
          <p:nvPr/>
        </p:nvSpPr>
        <p:spPr>
          <a:xfrm>
            <a:off x="658368" y="1755648"/>
            <a:ext cx="8321040" cy="914400"/>
          </a:xfrm>
          <a:prstGeom prst="roundRect">
            <a:avLst>
              <a:gd name="adj" fmla="val 12000"/>
            </a:avLst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6" name="tk0_ic"/>
          <p:cNvSpPr/>
          <p:nvPr/>
        </p:nvSpPr>
        <p:spPr>
          <a:xfrm>
            <a:off x="914400" y="1929384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tk0_ici" descr="/tmp/claude-0/-home-user-jalal/a59d9d9c-9b04-56e9-8ceb-a62df6a7b41b/scratchpad/deck/img/ic_drop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793" y="2059777"/>
            <a:ext cx="306141" cy="306141"/>
          </a:xfrm>
          <a:prstGeom prst="rect">
            <a:avLst/>
          </a:prstGeom>
        </p:spPr>
      </p:pic>
      <p:sp>
        <p:nvSpPr>
          <p:cNvPr id="8" name="tk0_t"/>
          <p:cNvSpPr txBox="1"/>
          <p:nvPr/>
        </p:nvSpPr>
        <p:spPr>
          <a:xfrm>
            <a:off x="1645920" y="186537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pH varies along the gut</a:t>
            </a:r>
            <a:endParaRPr lang="en-US" sz="1600" dirty="0"/>
          </a:p>
        </p:txBody>
      </p:sp>
      <p:sp>
        <p:nvSpPr>
          <p:cNvPr id="9" name="tk0_s"/>
          <p:cNvSpPr txBox="1"/>
          <p:nvPr/>
        </p:nvSpPr>
        <p:spPr>
          <a:xfrm>
            <a:off x="1645920" y="22128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Stomach 1–3, duodenum 5–6, small intestine 6–7.5.</a:t>
            </a:r>
            <a:endParaRPr lang="en-US" sz="1300" dirty="0"/>
          </a:p>
        </p:txBody>
      </p:sp>
      <p:sp>
        <p:nvSpPr>
          <p:cNvPr id="10" name="tk1_bg"/>
          <p:cNvSpPr/>
          <p:nvPr/>
        </p:nvSpPr>
        <p:spPr>
          <a:xfrm>
            <a:off x="658368" y="2834640"/>
            <a:ext cx="8321040" cy="914400"/>
          </a:xfrm>
          <a:prstGeom prst="roundRect">
            <a:avLst>
              <a:gd name="adj" fmla="val 12000"/>
            </a:avLst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11" name="tk1_ic"/>
          <p:cNvSpPr/>
          <p:nvPr/>
        </p:nvSpPr>
        <p:spPr>
          <a:xfrm>
            <a:off x="914400" y="300837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tk1_ici" descr="/tmp/claude-0/-home-user-jalal/a59d9d9c-9b04-56e9-8ceb-a62df6a7b41b/scratchpad/deck/img/ic_char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3" y="3138769"/>
            <a:ext cx="306141" cy="306141"/>
          </a:xfrm>
          <a:prstGeom prst="rect">
            <a:avLst/>
          </a:prstGeom>
        </p:spPr>
      </p:pic>
      <p:sp>
        <p:nvSpPr>
          <p:cNvPr id="13" name="tk1_t"/>
          <p:cNvSpPr txBox="1"/>
          <p:nvPr/>
        </p:nvSpPr>
        <p:spPr>
          <a:xfrm>
            <a:off x="1645920" y="294436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pH sets the ionization ratio</a:t>
            </a:r>
            <a:endParaRPr lang="en-US" sz="1600" dirty="0"/>
          </a:p>
        </p:txBody>
      </p:sp>
      <p:sp>
        <p:nvSpPr>
          <p:cNvPr id="14" name="tk1_s"/>
          <p:cNvSpPr txBox="1"/>
          <p:nvPr/>
        </p:nvSpPr>
        <p:spPr>
          <a:xfrm>
            <a:off x="1645920" y="329184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And with it solubility, stability and permeability.</a:t>
            </a:r>
            <a:endParaRPr lang="en-US" sz="1300" dirty="0"/>
          </a:p>
        </p:txBody>
      </p:sp>
      <p:sp>
        <p:nvSpPr>
          <p:cNvPr id="15" name="tk2_bg"/>
          <p:cNvSpPr/>
          <p:nvPr/>
        </p:nvSpPr>
        <p:spPr>
          <a:xfrm>
            <a:off x="658368" y="3913632"/>
            <a:ext cx="8321040" cy="914400"/>
          </a:xfrm>
          <a:prstGeom prst="roundRect">
            <a:avLst>
              <a:gd name="adj" fmla="val 12000"/>
            </a:avLst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16" name="tk2_ic"/>
          <p:cNvSpPr/>
          <p:nvPr/>
        </p:nvSpPr>
        <p:spPr>
          <a:xfrm>
            <a:off x="914400" y="408736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tk2_ici" descr="/tmp/claude-0/-home-user-jalal/a59d9d9c-9b04-56e9-8ceb-a62df6a7b41b/scratchpad/deck/img/ic_beak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793" y="4217761"/>
            <a:ext cx="306141" cy="306141"/>
          </a:xfrm>
          <a:prstGeom prst="rect">
            <a:avLst/>
          </a:prstGeom>
        </p:spPr>
      </p:pic>
      <p:sp>
        <p:nvSpPr>
          <p:cNvPr id="18" name="tk2_t"/>
          <p:cNvSpPr txBox="1"/>
          <p:nvPr/>
        </p:nvSpPr>
        <p:spPr>
          <a:xfrm>
            <a:off x="1645920" y="4023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Secretions shape dissolution</a:t>
            </a:r>
            <a:endParaRPr lang="en-US" sz="1600" dirty="0"/>
          </a:p>
        </p:txBody>
      </p:sp>
      <p:sp>
        <p:nvSpPr>
          <p:cNvPr id="19" name="tk2_s"/>
          <p:cNvSpPr txBox="1"/>
          <p:nvPr/>
        </p:nvSpPr>
        <p:spPr>
          <a:xfrm>
            <a:off x="1645920" y="437083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HCl, bicarbonate, bile salts and intestinal fluid.</a:t>
            </a:r>
            <a:endParaRPr lang="en-US" sz="1300" dirty="0"/>
          </a:p>
        </p:txBody>
      </p:sp>
      <p:sp>
        <p:nvSpPr>
          <p:cNvPr id="20" name="tk3_bg"/>
          <p:cNvSpPr/>
          <p:nvPr/>
        </p:nvSpPr>
        <p:spPr>
          <a:xfrm>
            <a:off x="658368" y="4992624"/>
            <a:ext cx="8321040" cy="914400"/>
          </a:xfrm>
          <a:prstGeom prst="roundRect">
            <a:avLst>
              <a:gd name="adj" fmla="val 12000"/>
            </a:avLst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21" name="tk3_ic"/>
          <p:cNvSpPr/>
          <p:nvPr/>
        </p:nvSpPr>
        <p:spPr>
          <a:xfrm>
            <a:off x="914400" y="51663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tk3_ici" descr="/tmp/claude-0/-home-user-jalal/a59d9d9c-9b04-56e9-8ceb-a62df6a7b41b/scratchpad/deck/img/ic_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793" y="5296753"/>
            <a:ext cx="306141" cy="306141"/>
          </a:xfrm>
          <a:prstGeom prst="rect">
            <a:avLst/>
          </a:prstGeom>
        </p:spPr>
      </p:pic>
      <p:sp>
        <p:nvSpPr>
          <p:cNvPr id="23" name="tk3_t"/>
          <p:cNvSpPr txBox="1"/>
          <p:nvPr/>
        </p:nvSpPr>
        <p:spPr>
          <a:xfrm>
            <a:off x="1645920" y="5102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Formulation answers the problem</a:t>
            </a:r>
            <a:endParaRPr lang="en-US" sz="1600" dirty="0"/>
          </a:p>
        </p:txBody>
      </p:sp>
      <p:sp>
        <p:nvSpPr>
          <p:cNvPr id="24" name="tk3_s"/>
          <p:cNvSpPr txBox="1"/>
          <p:nvPr/>
        </p:nvSpPr>
        <p:spPr>
          <a:xfrm>
            <a:off x="1645920" y="544982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Enteric coats, delayed release, dose separation.</a:t>
            </a:r>
            <a:endParaRPr lang="en-US" sz="1300" dirty="0"/>
          </a:p>
        </p:txBody>
      </p:sp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" dur="5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0" dur="5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4" dur="5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8" dur="5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3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5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7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5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6" dur="5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5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0" dur="5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5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4" dur="5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5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8" dur="5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55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5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7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50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6" dur="55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550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0" dur="55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550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4" dur="55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9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50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8" dur="55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3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550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2" dur="55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7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5" dur="550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6" dur="55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1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550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0" dur="55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5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3" dur="550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4" dur="55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9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550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8" dur="55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3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50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2" dur="55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5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371600"/>
            <a:ext cx="6583680" cy="6583680"/>
          </a:xfrm>
          <a:prstGeom prst="ellipse">
            <a:avLst/>
          </a:prstGeom>
          <a:solidFill>
            <a:schemeClr val="accent1">
              <a:alpha val="28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9235440" y="2834640"/>
            <a:ext cx="4206240" cy="4206240"/>
          </a:xfrm>
          <a:prstGeom prst="ellipse">
            <a:avLst/>
          </a:prstGeom>
          <a:solidFill>
            <a:schemeClr val="accent2">
              <a:alpha val="16000"/>
            </a:schemeClr>
          </a:solidFill>
          <a:ln/>
        </p:spPr>
      </p:sp>
      <p:pic>
        <p:nvPicPr>
          <p:cNvPr id="4" name="!!mark" descr="/tmp/claude-0/-home-user-jalal/a59d9d9c-9b04-56e9-8ceb-a62df6a7b41b/scratchpad/deck/img/gi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78992"/>
            <a:ext cx="3108960" cy="4626864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0" type="body" hasCustomPrompt="1"/>
          </p:nvPr>
        </p:nvSpPr>
        <p:spPr>
          <a:xfrm>
            <a:off x="658368" y="129844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2"/>
                </a:solidFill>
              </a:rPr>
              <a:t>THANK YOU</a:t>
            </a:r>
            <a:endParaRPr lang="en-US" sz="150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658368" y="1755648"/>
            <a:ext cx="7086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800" b="1" dirty="0">
                <a:solidFill>
                  <a:schemeClr val="bg1"/>
                </a:solidFill>
              </a:rPr>
              <a:t>Questions are welcome</a:t>
            </a:r>
            <a:endParaRPr lang="en-US" sz="38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58368" y="4443984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Name: 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Department of Pharmacy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University: 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______________________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 advClick="1">
        <p159:morph option="byObject"/>
      </p:transition>
    </mc:Choice>
    <mc:Fallback>
      <p:transition spd="slow" advClick="1">
        <p:fade/>
      </p:transition>
    </mc:Fallback>
  </mc:AlternateContent>
</p:sld>
</file>

<file path=ppt/theme/theme1.xml><?xml version="1.0" encoding="utf-8"?>
<a:theme xmlns:a="http://schemas.openxmlformats.org/drawingml/2006/main" name="Pharma GI Teal">
  <a:themeElements>
    <a:clrScheme name="Pharma GI Teal">
      <a:dk1>
        <a:srgbClr val="0B2B32"/>
      </a:dk1>
      <a:lt1>
        <a:srgbClr val="FFFFFF"/>
      </a:lt1>
      <a:dk2>
        <a:srgbClr val="0E4A54"/>
      </a:dk2>
      <a:lt2>
        <a:srgbClr val="EFF7F5"/>
      </a:lt2>
      <a:accent1>
        <a:srgbClr val="0E7C86"/>
      </a:accent1>
      <a:accent2>
        <a:srgbClr val="17B3A3"/>
      </a:accent2>
      <a:accent3>
        <a:srgbClr val="E8A33D"/>
      </a:accent3>
      <a:accent4>
        <a:srgbClr val="C8553D"/>
      </a:accent4>
      <a:accent5>
        <a:srgbClr val="3D6E8C"/>
      </a:accent5>
      <a:accent6>
        <a:srgbClr val="5B7B7E"/>
      </a:accent6>
      <a:hlink>
        <a:srgbClr val="0E7C86"/>
      </a:hlink>
      <a:folHlink>
        <a:srgbClr val="5B7B7E"/>
      </a:folHlink>
    </a:clrScheme>
    <a:fontScheme name="Pharma GI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Department of Pharmacy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 of Gastrointestinal pH and Secretions in Drug Absorption</dc:title>
  <dc:subject>Biopharmaceutics</dc:subject>
  <dc:creator>Department of Pharmacy</dc:creator>
  <cp:lastModifiedBy>Department of Pharmacy</cp:lastModifiedBy>
  <cp:revision>1</cp:revision>
  <dcterms:created xsi:type="dcterms:W3CDTF">2026-10-11T20:54:37Z</dcterms:created>
  <dcterms:modified xsi:type="dcterms:W3CDTF">2026-10-11T20:54:37Z</dcterms:modified>
</cp:coreProperties>
</file>